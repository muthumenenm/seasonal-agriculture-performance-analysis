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95" d="100"/>
          <a:sy n="95" d="100"/>
        </p:scale>
        <p:origin x="110"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582752" y="4156554"/>
            <a:ext cx="7965785" cy="1467363"/>
          </a:xfrm>
        </p:spPr>
        <p:txBody>
          <a:bodyPr vert="horz" lIns="91440" tIns="45720" rIns="91440" bIns="45720" rtlCol="0" anchor="t">
            <a:normAutofit/>
          </a:bodyPr>
          <a:lstStyle/>
          <a:p>
            <a:pPr algn="r"/>
            <a:r>
              <a:rPr lang="en-IN" b="0" dirty="0">
                <a:solidFill>
                  <a:schemeClr val="tx1"/>
                </a:solidFill>
              </a:rPr>
              <a:t>Dhanalakshmi Srinivasan University - Trichy</a:t>
            </a:r>
          </a:p>
          <a:p>
            <a:pPr algn="r"/>
            <a:r>
              <a:rPr lang="en-US" b="0" dirty="0">
                <a:solidFill>
                  <a:schemeClr val="tx1"/>
                </a:solidFill>
              </a:rPr>
              <a:t>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222732" y="2765927"/>
            <a:ext cx="8070477" cy="743448"/>
          </a:xfrm>
        </p:spPr>
        <p:txBody>
          <a:bodyPr>
            <a:normAutofit/>
          </a:bodyPr>
          <a:lstStyle/>
          <a:p>
            <a:r>
              <a:rPr lang="en-GB" sz="32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280631" y="4633260"/>
            <a:ext cx="5443394" cy="369332"/>
          </a:xfrm>
          <a:prstGeom prst="rect">
            <a:avLst/>
          </a:prstGeom>
          <a:noFill/>
        </p:spPr>
        <p:txBody>
          <a:bodyPr wrap="square" rtlCol="0">
            <a:spAutoFit/>
          </a:bodyPr>
          <a:lstStyle/>
          <a:p>
            <a:r>
              <a:rPr lang="en-US" b="1" dirty="0"/>
              <a:t>AICTE STU ID : STU6a1e60843698c1780375684</a:t>
            </a:r>
          </a:p>
        </p:txBody>
      </p:sp>
      <p:sp>
        <p:nvSpPr>
          <p:cNvPr id="5" name="Title 3">
            <a:extLst>
              <a:ext uri="{FF2B5EF4-FFF2-40B4-BE49-F238E27FC236}">
                <a16:creationId xmlns:a16="http://schemas.microsoft.com/office/drawing/2014/main" id="{F90C53AA-7856-6656-DD88-7C29D5827C78}"/>
              </a:ext>
            </a:extLst>
          </p:cNvPr>
          <p:cNvSpPr txBox="1">
            <a:spLocks/>
          </p:cNvSpPr>
          <p:nvPr/>
        </p:nvSpPr>
        <p:spPr>
          <a:xfrm>
            <a:off x="319474" y="3559231"/>
            <a:ext cx="5365709" cy="547467"/>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2800" kern="1200">
                <a:solidFill>
                  <a:schemeClr val="tx1"/>
                </a:solidFill>
                <a:latin typeface="+mn-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Name: </a:t>
            </a:r>
            <a:r>
              <a:rPr lang="en-GB" dirty="0" err="1"/>
              <a:t>Muthumenen</a:t>
            </a:r>
            <a:r>
              <a:rPr lang="en-GB" dirty="0"/>
              <a:t> M</a:t>
            </a:r>
            <a:endParaRPr lang="en-IN"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6" presetClass="entr" presetSubtype="0" fill="hold" grpId="0"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wipe(down)">
                                      <p:cBhvr>
                                        <p:cTn id="42" dur="580">
                                          <p:stCondLst>
                                            <p:cond delay="0"/>
                                          </p:stCondLst>
                                        </p:cTn>
                                        <p:tgtEl>
                                          <p:spTgt spid="5"/>
                                        </p:tgtEl>
                                      </p:cBhvr>
                                    </p:animEffect>
                                    <p:anim calcmode="lin" valueType="num">
                                      <p:cBhvr>
                                        <p:cTn id="43"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44"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45"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46"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47"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48" dur="26">
                                          <p:stCondLst>
                                            <p:cond delay="650"/>
                                          </p:stCondLst>
                                        </p:cTn>
                                        <p:tgtEl>
                                          <p:spTgt spid="5"/>
                                        </p:tgtEl>
                                      </p:cBhvr>
                                      <p:to x="100000" y="60000"/>
                                    </p:animScale>
                                    <p:animScale>
                                      <p:cBhvr>
                                        <p:cTn id="49" dur="166" decel="50000">
                                          <p:stCondLst>
                                            <p:cond delay="676"/>
                                          </p:stCondLst>
                                        </p:cTn>
                                        <p:tgtEl>
                                          <p:spTgt spid="5"/>
                                        </p:tgtEl>
                                      </p:cBhvr>
                                      <p:to x="100000" y="100000"/>
                                    </p:animScale>
                                    <p:animScale>
                                      <p:cBhvr>
                                        <p:cTn id="50" dur="26">
                                          <p:stCondLst>
                                            <p:cond delay="1312"/>
                                          </p:stCondLst>
                                        </p:cTn>
                                        <p:tgtEl>
                                          <p:spTgt spid="5"/>
                                        </p:tgtEl>
                                      </p:cBhvr>
                                      <p:to x="100000" y="80000"/>
                                    </p:animScale>
                                    <p:animScale>
                                      <p:cBhvr>
                                        <p:cTn id="51" dur="166" decel="50000">
                                          <p:stCondLst>
                                            <p:cond delay="1338"/>
                                          </p:stCondLst>
                                        </p:cTn>
                                        <p:tgtEl>
                                          <p:spTgt spid="5"/>
                                        </p:tgtEl>
                                      </p:cBhvr>
                                      <p:to x="100000" y="100000"/>
                                    </p:animScale>
                                    <p:animScale>
                                      <p:cBhvr>
                                        <p:cTn id="52" dur="26">
                                          <p:stCondLst>
                                            <p:cond delay="1642"/>
                                          </p:stCondLst>
                                        </p:cTn>
                                        <p:tgtEl>
                                          <p:spTgt spid="5"/>
                                        </p:tgtEl>
                                      </p:cBhvr>
                                      <p:to x="100000" y="90000"/>
                                    </p:animScale>
                                    <p:animScale>
                                      <p:cBhvr>
                                        <p:cTn id="53" dur="166" decel="50000">
                                          <p:stCondLst>
                                            <p:cond delay="1668"/>
                                          </p:stCondLst>
                                        </p:cTn>
                                        <p:tgtEl>
                                          <p:spTgt spid="5"/>
                                        </p:tgtEl>
                                      </p:cBhvr>
                                      <p:to x="100000" y="100000"/>
                                    </p:animScale>
                                    <p:animScale>
                                      <p:cBhvr>
                                        <p:cTn id="54" dur="26">
                                          <p:stCondLst>
                                            <p:cond delay="1808"/>
                                          </p:stCondLst>
                                        </p:cTn>
                                        <p:tgtEl>
                                          <p:spTgt spid="5"/>
                                        </p:tgtEl>
                                      </p:cBhvr>
                                      <p:to x="100000" y="95000"/>
                                    </p:animScale>
                                    <p:animScale>
                                      <p:cBhvr>
                                        <p:cTn id="55" dur="166" decel="50000">
                                          <p:stCondLst>
                                            <p:cond delay="1834"/>
                                          </p:stCondLst>
                                        </p:cTn>
                                        <p:tgtEl>
                                          <p:spTgt spid="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5900000" cy="5200000"/>
          </a:xfrm>
        </p:spPr>
        <p:txBody>
          <a:bodyPr>
            <a:normAutofit/>
          </a:bodyPr>
          <a:lstStyle/>
          <a:p>
            <a:r>
              <a:rPr lang="en-GB" sz="2800" b="1" dirty="0"/>
              <a:t>Project Description</a:t>
            </a:r>
            <a:br>
              <a:rPr lang="en-GB" sz="1400"/>
            </a:br>
            <a:br>
              <a:rPr lang="en-GB" sz="600"/>
            </a:br>
            <a:r>
              <a:rPr lang="en-GB" sz="1500" b="0" dirty="0">
                <a:solidFill>
                  <a:srgbClr val="333333"/>
                </a:solidFill>
              </a:rPr>
              <a:t>This project analyzes 4,000 farm-level agricultural records spanning three cropping seasons (Kharif, Rabi, Zaid), 8 Indian states and 8 crops, to investigate how agricultural performance changes across seasons. Using Python-based data analytics, the dataset was audited, cleaned, and explored to uncover seasonal patterns in yield, production, profitability, water efficiency, and disease/pest risk. Environmental conditions, resource usage, and irrigation methods were analyzed for their relationship with outcomes, using appropriate statistical tests (ANOVA, Kruskal-Wallis, correlation, chi-square; alpha = 0.05). The project delivers a fully executable Jupyter Notebook, a cleaned dataset, and a professional report with evidence-based conclusions and data-driven recommendations for seasonal agricultural planning.</a:t>
            </a: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10" name="Picture 9" descr="01_season_distribution.png"/>
          <p:cNvPicPr>
            <a:picLocks noChangeAspect="1"/>
          </p:cNvPicPr>
          <p:nvPr/>
        </p:nvPicPr>
        <p:blipFill>
          <a:blip r:embed="rId4"/>
          <a:stretch>
            <a:fillRect/>
          </a:stretch>
        </p:blipFill>
        <p:spPr>
          <a:xfrm>
            <a:off x="7090227" y="2119543"/>
            <a:ext cx="4441372" cy="2960914"/>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528854" y="1012792"/>
            <a:ext cx="5850000" cy="4200000"/>
          </a:xfrm>
        </p:spPr>
        <p:txBody>
          <a:bodyPr>
            <a:normAutofit fontScale="92500" lnSpcReduction="10000"/>
          </a:bodyPr>
          <a:lstStyle/>
          <a:p>
            <a:pPr marL="0" indent="0" algn="just">
              <a:lnSpc>
                <a:spcPct val="150000"/>
              </a:lnSpc>
              <a:buNone/>
            </a:pPr>
            <a:endParaRPr lang="en-IN" sz="3600" dirty="0"/>
          </a:p>
          <a:p>
            <a:pPr marL="228600" indent="-228600" algn="l">
              <a:spcAft>
                <a:spcPts val="1400"/>
              </a:spcAft>
              <a:buFont typeface="Arial"/>
              <a:buChar char="•"/>
            </a:pPr>
            <a:r>
              <a:rPr lang="en-IN" sz="1600" dirty="0">
                <a:solidFill>
                  <a:srgbClr val="222222"/>
                </a:solidFill>
              </a:rPr>
              <a:t>State agriculture department officials tracking regional performance</a:t>
            </a:r>
          </a:p>
          <a:p>
            <a:pPr marL="228600" indent="-228600" algn="l">
              <a:spcAft>
                <a:spcPts val="1400"/>
              </a:spcAft>
              <a:buFont typeface="Arial"/>
              <a:buChar char="•"/>
            </a:pPr>
            <a:r>
              <a:rPr lang="en-IN" sz="1600" dirty="0">
                <a:solidFill>
                  <a:srgbClr val="222222"/>
                </a:solidFill>
              </a:rPr>
              <a:t>Farmers and farmer cooperatives choosing crops and irrigation methods per season</a:t>
            </a:r>
          </a:p>
          <a:p>
            <a:pPr marL="228600" indent="-228600" algn="l">
              <a:spcAft>
                <a:spcPts val="1400"/>
              </a:spcAft>
              <a:buFont typeface="Arial"/>
              <a:buChar char="•"/>
            </a:pPr>
            <a:r>
              <a:rPr lang="en-IN" sz="1600" dirty="0">
                <a:solidFill>
                  <a:srgbClr val="222222"/>
                </a:solidFill>
              </a:rPr>
              <a:t>Agri-finance and insurance providers assessing seasonal risk and profitability</a:t>
            </a:r>
          </a:p>
          <a:p>
            <a:pPr marL="228600" indent="-228600" algn="l">
              <a:spcAft>
                <a:spcPts val="1400"/>
              </a:spcAft>
              <a:buFont typeface="Arial"/>
              <a:buChar char="•"/>
            </a:pPr>
            <a:r>
              <a:rPr lang="en-IN" sz="1600" dirty="0">
                <a:solidFill>
                  <a:srgbClr val="222222"/>
                </a:solidFill>
              </a:rPr>
              <a:t>Agricultural researchers and students studying seasonal performance patterns</a:t>
            </a:r>
          </a:p>
          <a:p>
            <a:pPr marL="228600" indent="-228600" algn="l">
              <a:spcAft>
                <a:spcPts val="1400"/>
              </a:spcAft>
              <a:buFont typeface="Arial"/>
              <a:buChar char="•"/>
            </a:pPr>
            <a:r>
              <a:rPr lang="en-IN" sz="1600" dirty="0">
                <a:solidFill>
                  <a:srgbClr val="222222"/>
                </a:solidFill>
              </a:rPr>
              <a:t>VOIS AICTE evaluators reviewing this internship major project</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pic>
        <p:nvPicPr>
          <p:cNvPr id="17" name="Picture 16" descr="10_season_state_yield.png"/>
          <p:cNvPicPr>
            <a:picLocks noChangeAspect="1"/>
          </p:cNvPicPr>
          <p:nvPr/>
        </p:nvPicPr>
        <p:blipFill>
          <a:blip r:embed="rId3"/>
          <a:stretch>
            <a:fillRect/>
          </a:stretch>
        </p:blipFill>
        <p:spPr>
          <a:xfrm>
            <a:off x="7090227" y="2212071"/>
            <a:ext cx="4441372" cy="2775857"/>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200000" y="1150000"/>
            <a:ext cx="4000000" cy="5400000"/>
          </a:xfrm>
        </p:spPr>
        <p:txBody>
          <a:bodyPr/>
          <a:lstStyle/>
          <a:p>
            <a:pPr lvl="1">
              <a:lnSpc>
                <a:spcPct val="150000"/>
              </a:lnSpc>
            </a:pPr>
            <a:endParaRPr lang="en-IN" dirty="0"/>
          </a:p>
          <a:p>
            <a:pPr marL="228600" indent="-228600" algn="l">
              <a:spcAft>
                <a:spcPts val="600"/>
              </a:spcAft>
              <a:buFont typeface="Arial"/>
              <a:buChar char="•"/>
            </a:pPr>
            <a:r>
              <a:rPr lang="en-IN" sz="1300" dirty="0">
                <a:solidFill>
                  <a:srgbClr val="222222"/>
                </a:solidFill>
              </a:rPr>
              <a:t>pandas &amp; numpy - data cleaning, aggregation, computation</a:t>
            </a:r>
          </a:p>
          <a:p>
            <a:pPr marL="228600" indent="-228600" algn="l">
              <a:spcAft>
                <a:spcPts val="600"/>
              </a:spcAft>
              <a:buFont typeface="Arial"/>
              <a:buChar char="•"/>
            </a:pPr>
            <a:r>
              <a:rPr lang="en-IN" sz="1300" dirty="0">
                <a:solidFill>
                  <a:srgbClr val="222222"/>
                </a:solidFill>
              </a:rPr>
              <a:t>matplotlib &amp; seaborn - statistical visualizations (19 charts)</a:t>
            </a:r>
          </a:p>
          <a:p>
            <a:pPr marL="228600" indent="-228600" algn="l">
              <a:spcAft>
                <a:spcPts val="600"/>
              </a:spcAft>
              <a:buFont typeface="Arial"/>
              <a:buChar char="•"/>
            </a:pPr>
            <a:r>
              <a:rPr lang="en-IN" sz="1300" dirty="0">
                <a:solidFill>
                  <a:srgbClr val="222222"/>
                </a:solidFill>
              </a:rPr>
              <a:t>scipy - hypothesis testing (ANOVA, Kruskal-Wallis, Pearson/Spearman, chi-square)</a:t>
            </a:r>
          </a:p>
          <a:p>
            <a:pPr marL="228600" indent="-228600" algn="l">
              <a:spcAft>
                <a:spcPts val="600"/>
              </a:spcAft>
              <a:buFont typeface="Arial"/>
              <a:buChar char="•"/>
            </a:pPr>
            <a:r>
              <a:rPr lang="en-IN" sz="1300" dirty="0">
                <a:solidFill>
                  <a:srgbClr val="222222"/>
                </a:solidFill>
              </a:rPr>
              <a:t>scikit-learn - standardized linear regression on yield drivers</a:t>
            </a:r>
          </a:p>
          <a:p>
            <a:pPr marL="228600" indent="-228600" algn="l">
              <a:spcAft>
                <a:spcPts val="600"/>
              </a:spcAft>
              <a:buFont typeface="Arial"/>
              <a:buChar char="•"/>
            </a:pPr>
            <a:r>
              <a:rPr lang="en-IN" sz="1300" dirty="0">
                <a:solidFill>
                  <a:srgbClr val="222222"/>
                </a:solidFill>
              </a:rPr>
              <a:t>Jupyter Notebook - primary analysis deliverable (31 sections, executed end-to-end)</a:t>
            </a:r>
          </a:p>
          <a:p>
            <a:pPr marL="228600" indent="-228600" algn="l">
              <a:spcAft>
                <a:spcPts val="600"/>
              </a:spcAft>
              <a:buFont typeface="Arial"/>
              <a:buChar char="•"/>
            </a:pPr>
            <a:r>
              <a:rPr lang="en-IN" sz="1300" dirty="0">
                <a:solidFill>
                  <a:srgbClr val="222222"/>
                </a:solidFill>
              </a:rPr>
              <a:t>Microsoft Excel, Word &amp; PDF - cleaned dataset and report deliverables</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9500000" cy="830997"/>
          </a:xfrm>
        </p:spPr>
        <p:txBody>
          <a:bodyPr>
            <a:normAutofit/>
          </a:bodyPr>
          <a:lstStyle/>
          <a:p>
            <a:r>
              <a:rPr lang="en-GB" sz="2600" dirty="0"/>
              <a:t>RESULTS - Seasonal Performance Overview</a:t>
            </a:r>
            <a:endParaRPr lang="en-IN" dirty="0"/>
          </a:p>
        </p:txBody>
      </p:sp>
      <p:pic>
        <p:nvPicPr>
          <p:cNvPr id="24" name="Picture 23" descr="02_avg_yield_by_season.png"/>
          <p:cNvPicPr>
            <a:picLocks noChangeAspect="1"/>
          </p:cNvPicPr>
          <p:nvPr/>
        </p:nvPicPr>
        <p:blipFill>
          <a:blip r:embed="rId3"/>
          <a:stretch>
            <a:fillRect/>
          </a:stretch>
        </p:blipFill>
        <p:spPr>
          <a:xfrm>
            <a:off x="750000" y="1908333"/>
            <a:ext cx="5225000" cy="3483333"/>
          </a:xfrm>
          <a:prstGeom prst="rect">
            <a:avLst/>
          </a:prstGeom>
        </p:spPr>
      </p:pic>
      <p:pic>
        <p:nvPicPr>
          <p:cNvPr id="25" name="Picture 24" descr="03_avg_profit_by_season.png"/>
          <p:cNvPicPr>
            <a:picLocks noChangeAspect="1"/>
          </p:cNvPicPr>
          <p:nvPr/>
        </p:nvPicPr>
        <p:blipFill>
          <a:blip r:embed="rId4"/>
          <a:stretch>
            <a:fillRect/>
          </a:stretch>
        </p:blipFill>
        <p:spPr>
          <a:xfrm>
            <a:off x="6125000" y="1908333"/>
            <a:ext cx="5225000" cy="3483333"/>
          </a:xfrm>
          <a:prstGeom prst="rect">
            <a:avLst/>
          </a:prstGeom>
        </p:spPr>
      </p:pic>
      <p:sp>
        <p:nvSpPr>
          <p:cNvPr id="26" name="TextBox 25"/>
          <p:cNvSpPr txBox="1"/>
          <p:nvPr/>
        </p:nvSpPr>
        <p:spPr>
          <a:xfrm>
            <a:off x="750000" y="5900000"/>
            <a:ext cx="9700000" cy="650000"/>
          </a:xfrm>
          <a:prstGeom prst="rect">
            <a:avLst/>
          </a:prstGeom>
          <a:noFill/>
        </p:spPr>
        <p:txBody>
          <a:bodyPr wrap="square">
            <a:spAutoFit/>
          </a:bodyPr>
          <a:lstStyle/>
          <a:p>
            <a:r>
              <a:rPr sz="1300" i="1">
                <a:solidFill>
                  <a:srgbClr val="333333"/>
                </a:solidFill>
              </a:rPr>
              <a:t>Kharif leads on average yield (5.63 t/ha) and average profit (INR 178,915); Zaid is weakest, with a negative average profit.</a:t>
            </a:r>
          </a:p>
        </p:txBody>
      </p:sp>
    </p:spTree>
    <p:extLst>
      <p:ext uri="{BB962C8B-B14F-4D97-AF65-F5344CB8AC3E}">
        <p14:creationId xmlns:p14="http://schemas.microsoft.com/office/powerpoint/2010/main" val="1086225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9500000" cy="830997"/>
          </a:xfrm>
        </p:spPr>
        <p:txBody>
          <a:bodyPr>
            <a:normAutofit/>
          </a:bodyPr>
          <a:lstStyle/>
          <a:p>
            <a:r>
              <a:rPr lang="en-GB" sz="2600" dirty="0"/>
              <a:t>RESULTS - Crop-wise Seasonal Analysis</a:t>
            </a:r>
            <a:endParaRPr lang="en-IN" dirty="0"/>
          </a:p>
        </p:txBody>
      </p:sp>
      <p:pic>
        <p:nvPicPr>
          <p:cNvPr id="31" name="Picture 30" descr="09_season_crop_yield_heatmap.png"/>
          <p:cNvPicPr>
            <a:picLocks noChangeAspect="1"/>
          </p:cNvPicPr>
          <p:nvPr/>
        </p:nvPicPr>
        <p:blipFill>
          <a:blip r:embed="rId3"/>
          <a:stretch>
            <a:fillRect/>
          </a:stretch>
        </p:blipFill>
        <p:spPr>
          <a:xfrm>
            <a:off x="3313636" y="1500000"/>
            <a:ext cx="5472727" cy="4300000"/>
          </a:xfrm>
          <a:prstGeom prst="rect">
            <a:avLst/>
          </a:prstGeom>
        </p:spPr>
      </p:pic>
      <p:sp>
        <p:nvSpPr>
          <p:cNvPr id="32" name="TextBox 31"/>
          <p:cNvSpPr txBox="1"/>
          <p:nvPr/>
        </p:nvSpPr>
        <p:spPr>
          <a:xfrm>
            <a:off x="750000" y="5900000"/>
            <a:ext cx="9700000" cy="650000"/>
          </a:xfrm>
          <a:prstGeom prst="rect">
            <a:avLst/>
          </a:prstGeom>
          <a:noFill/>
        </p:spPr>
        <p:txBody>
          <a:bodyPr wrap="square">
            <a:spAutoFit/>
          </a:bodyPr>
          <a:lstStyle/>
          <a:p>
            <a:r>
              <a:rPr sz="1300" i="1">
                <a:solidFill>
                  <a:srgbClr val="333333"/>
                </a:solidFill>
              </a:rPr>
              <a:t>Sugarcane yields far exceed every other crop in all three seasons - crop choice, not season, is the dominant driver of yield.</a:t>
            </a:r>
          </a:p>
        </p:txBody>
      </p:sp>
    </p:spTree>
    <p:extLst>
      <p:ext uri="{BB962C8B-B14F-4D97-AF65-F5344CB8AC3E}">
        <p14:creationId xmlns:p14="http://schemas.microsoft.com/office/powerpoint/2010/main" val="3849627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9500000" cy="830997"/>
          </a:xfrm>
        </p:spPr>
        <p:txBody>
          <a:bodyPr>
            <a:normAutofit/>
          </a:bodyPr>
          <a:lstStyle/>
          <a:p>
            <a:r>
              <a:rPr lang="en-GB" sz="2600" dirty="0"/>
              <a:t>RESULTS - Environmental Relationships</a:t>
            </a:r>
            <a:endParaRPr lang="en-IN"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flipV="1">
            <a:off x="3815058" y="4265532"/>
            <a:ext cx="4275138" cy="45719"/>
          </a:xfrm>
        </p:spPr>
        <p:txBody>
          <a:bodyPr>
            <a:normAutofit fontScale="25000" lnSpcReduction="20000"/>
          </a:bodyPr>
          <a:lstStyle/>
          <a:p>
            <a:pPr marL="0" indent="0">
              <a:buNone/>
            </a:pPr>
            <a:endParaRPr lang="en-IN" dirty="0"/>
          </a:p>
        </p:txBody>
      </p:sp>
      <p:pic>
        <p:nvPicPr>
          <p:cNvPr id="31" name="Picture 30" descr="11_correlation_heatmap.png"/>
          <p:cNvPicPr>
            <a:picLocks noChangeAspect="1"/>
          </p:cNvPicPr>
          <p:nvPr/>
        </p:nvPicPr>
        <p:blipFill>
          <a:blip r:embed="rId3"/>
          <a:stretch>
            <a:fillRect/>
          </a:stretch>
        </p:blipFill>
        <p:spPr>
          <a:xfrm>
            <a:off x="3509091" y="1500000"/>
            <a:ext cx="5081818" cy="4300000"/>
          </a:xfrm>
          <a:prstGeom prst="rect">
            <a:avLst/>
          </a:prstGeom>
        </p:spPr>
      </p:pic>
      <p:sp>
        <p:nvSpPr>
          <p:cNvPr id="32" name="TextBox 31"/>
          <p:cNvSpPr txBox="1"/>
          <p:nvPr/>
        </p:nvSpPr>
        <p:spPr>
          <a:xfrm>
            <a:off x="750000" y="5900000"/>
            <a:ext cx="9700000" cy="650000"/>
          </a:xfrm>
          <a:prstGeom prst="rect">
            <a:avLst/>
          </a:prstGeom>
          <a:noFill/>
        </p:spPr>
        <p:txBody>
          <a:bodyPr wrap="square">
            <a:spAutoFit/>
          </a:bodyPr>
          <a:lstStyle/>
          <a:p>
            <a:r>
              <a:rPr sz="1300" i="1">
                <a:solidFill>
                  <a:srgbClr val="333333"/>
                </a:solidFill>
              </a:rPr>
              <a:t>Correlations between environmental variables and outcomes are weak overall (|r| &lt; 0.2) - no single weather variable strongly predicts performance on its own.</a:t>
            </a:r>
          </a:p>
        </p:txBody>
      </p:sp>
    </p:spTree>
    <p:extLst>
      <p:ext uri="{BB962C8B-B14F-4D97-AF65-F5344CB8AC3E}">
        <p14:creationId xmlns:p14="http://schemas.microsoft.com/office/powerpoint/2010/main" val="1698901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9500000" cy="830997"/>
          </a:xfrm>
        </p:spPr>
        <p:txBody>
          <a:bodyPr>
            <a:normAutofit/>
          </a:bodyPr>
          <a:lstStyle/>
          <a:p>
            <a:r>
              <a:rPr lang="en-GB" sz="2600" dirty="0"/>
              <a:t>RESULTS - Irrigation &amp; Water Efficiency</a:t>
            </a:r>
            <a:endParaRPr lang="en-IN"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1" name="Picture 30" descr="13_irrigation_comparison.png"/>
          <p:cNvPicPr>
            <a:picLocks noChangeAspect="1"/>
          </p:cNvPicPr>
          <p:nvPr/>
        </p:nvPicPr>
        <p:blipFill>
          <a:blip r:embed="rId3"/>
          <a:stretch>
            <a:fillRect/>
          </a:stretch>
        </p:blipFill>
        <p:spPr>
          <a:xfrm>
            <a:off x="794444" y="1500000"/>
            <a:ext cx="10511111" cy="4300000"/>
          </a:xfrm>
          <a:prstGeom prst="rect">
            <a:avLst/>
          </a:prstGeom>
        </p:spPr>
      </p:pic>
      <p:sp>
        <p:nvSpPr>
          <p:cNvPr id="32" name="TextBox 31"/>
          <p:cNvSpPr txBox="1"/>
          <p:nvPr/>
        </p:nvSpPr>
        <p:spPr>
          <a:xfrm>
            <a:off x="750000" y="5900000"/>
            <a:ext cx="9700000" cy="650000"/>
          </a:xfrm>
          <a:prstGeom prst="rect">
            <a:avLst/>
          </a:prstGeom>
          <a:noFill/>
        </p:spPr>
        <p:txBody>
          <a:bodyPr wrap="square">
            <a:spAutoFit/>
          </a:bodyPr>
          <a:lstStyle/>
          <a:p>
            <a:r>
              <a:rPr sz="1300" i="1">
                <a:solidFill>
                  <a:srgbClr val="333333"/>
                </a:solidFill>
              </a:rPr>
              <a:t>Irrigation method is significantly associated with water efficiency (Kruskal-Wallis, p &lt; 0.001); Rainfed and Drip methods are most efficient.</a:t>
            </a:r>
          </a:p>
        </p:txBody>
      </p:sp>
    </p:spTree>
    <p:extLst>
      <p:ext uri="{BB962C8B-B14F-4D97-AF65-F5344CB8AC3E}">
        <p14:creationId xmlns:p14="http://schemas.microsoft.com/office/powerpoint/2010/main" val="1903979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9500000" cy="830997"/>
          </a:xfrm>
        </p:spPr>
        <p:txBody>
          <a:bodyPr>
            <a:normAutofit/>
          </a:bodyPr>
          <a:lstStyle/>
          <a:p>
            <a:r>
              <a:rPr lang="en-GB" sz="2600" dirty="0"/>
              <a:t>RESULTS - Disease/Pest Risk by Season</a:t>
            </a:r>
            <a:endParaRPr lang="en-IN" dirty="0"/>
          </a:p>
        </p:txBody>
      </p:sp>
      <p:pic>
        <p:nvPicPr>
          <p:cNvPr id="31" name="Picture 30" descr="15_disease_risk_by_season.png"/>
          <p:cNvPicPr>
            <a:picLocks noChangeAspect="1"/>
          </p:cNvPicPr>
          <p:nvPr/>
        </p:nvPicPr>
        <p:blipFill>
          <a:blip r:embed="rId3"/>
          <a:stretch>
            <a:fillRect/>
          </a:stretch>
        </p:blipFill>
        <p:spPr>
          <a:xfrm>
            <a:off x="2944444" y="1500000"/>
            <a:ext cx="6211111" cy="4300000"/>
          </a:xfrm>
          <a:prstGeom prst="rect">
            <a:avLst/>
          </a:prstGeom>
        </p:spPr>
      </p:pic>
      <p:sp>
        <p:nvSpPr>
          <p:cNvPr id="32" name="TextBox 31"/>
          <p:cNvSpPr txBox="1"/>
          <p:nvPr/>
        </p:nvSpPr>
        <p:spPr>
          <a:xfrm>
            <a:off x="750000" y="5900000"/>
            <a:ext cx="9700000" cy="650000"/>
          </a:xfrm>
          <a:prstGeom prst="rect">
            <a:avLst/>
          </a:prstGeom>
          <a:noFill/>
        </p:spPr>
        <p:txBody>
          <a:bodyPr wrap="square">
            <a:spAutoFit/>
          </a:bodyPr>
          <a:lstStyle/>
          <a:p>
            <a:r>
              <a:rPr sz="1300" i="1">
                <a:solidFill>
                  <a:srgbClr val="333333"/>
                </a:solidFill>
              </a:rPr>
              <a:t>Season has a statistically significant effect on yield, profit, water efficiency, and disease/pest risk (Kruskal-Wallis, all p &lt; 0.05, alpha = 0.05).</a:t>
            </a:r>
          </a:p>
        </p:txBody>
      </p:sp>
    </p:spTree>
    <p:extLst>
      <p:ext uri="{BB962C8B-B14F-4D97-AF65-F5344CB8AC3E}">
        <p14:creationId xmlns:p14="http://schemas.microsoft.com/office/powerpoint/2010/main" val="1421522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750000" y="1600000"/>
            <a:ext cx="10600000" cy="4200000"/>
          </a:xfrm>
          <a:prstGeom prst="rect">
            <a:avLst/>
          </a:prstGeom>
          <a:noFill/>
        </p:spPr>
        <p:txBody>
          <a:bodyPr wrap="square">
            <a:spAutoFit/>
          </a:bodyPr>
          <a:lstStyle/>
          <a:p>
            <a:pPr marL="228600" indent="-228600" algn="l">
              <a:spcAft>
                <a:spcPts val="1600"/>
              </a:spcAft>
              <a:buFont typeface="Arial"/>
              <a:buChar char="•"/>
            </a:pPr>
            <a:r>
              <a:rPr lang="en-IN" sz="1700" dirty="0">
                <a:solidFill>
                  <a:srgbClr val="222222"/>
                </a:solidFill>
              </a:rPr>
              <a:t>Extend the dataset to a multi-year panel to separate season effects from year-to-year weather variability</a:t>
            </a:r>
          </a:p>
          <a:p>
            <a:pPr marL="228600" indent="-228600" algn="l">
              <a:spcAft>
                <a:spcPts val="1600"/>
              </a:spcAft>
              <a:buFont typeface="Arial"/>
              <a:buChar char="•"/>
            </a:pPr>
            <a:r>
              <a:rPr lang="en-IN" sz="1700" dirty="0">
                <a:solidFill>
                  <a:srgbClr val="222222"/>
                </a:solidFill>
              </a:rPr>
              <a:t>Collect a verified State-District geographic mapping to enable true district-level regional analysis</a:t>
            </a:r>
          </a:p>
          <a:p>
            <a:pPr marL="228600" indent="-228600" algn="l">
              <a:spcAft>
                <a:spcPts val="1600"/>
              </a:spcAft>
              <a:buFont typeface="Arial"/>
              <a:buChar char="•"/>
            </a:pPr>
            <a:r>
              <a:rPr lang="en-IN" sz="1700" dirty="0">
                <a:solidFill>
                  <a:srgbClr val="222222"/>
                </a:solidFill>
              </a:rPr>
              <a:t>Capture additional agronomic variables (soil type, sowing date, pest incident records) to improve yield-model accuracy</a:t>
            </a:r>
          </a:p>
          <a:p>
            <a:pPr marL="228600" indent="-228600" algn="l">
              <a:spcAft>
                <a:spcPts val="1600"/>
              </a:spcAft>
              <a:buFont typeface="Arial"/>
              <a:buChar char="•"/>
            </a:pPr>
            <a:r>
              <a:rPr lang="en-IN" sz="1700" dirty="0">
                <a:solidFill>
                  <a:srgbClr val="222222"/>
                </a:solidFill>
              </a:rPr>
              <a:t>Apply crop-specific regression or machine-learning models instead of one pooled model, given how strongly yield scale differs by crop</a:t>
            </a:r>
          </a:p>
          <a:p>
            <a:pPr marL="228600" indent="-228600" algn="l">
              <a:spcAft>
                <a:spcPts val="1600"/>
              </a:spcAft>
              <a:buFont typeface="Arial"/>
              <a:buChar char="•"/>
            </a:pPr>
            <a:r>
              <a:rPr lang="en-IN" sz="1700" dirty="0">
                <a:solidFill>
                  <a:srgbClr val="222222"/>
                </a:solidFill>
              </a:rPr>
              <a:t>Build an interactive dashboard for real-time seasonal planning by state/crop</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675957" y="1201586"/>
            <a:ext cx="8735586" cy="369332"/>
          </a:xfrm>
          <a:prstGeom prst="rect">
            <a:avLst/>
          </a:prstGeom>
          <a:noFill/>
        </p:spPr>
        <p:txBody>
          <a:bodyPr wrap="square">
            <a:spAutoFit/>
          </a:bodyPr>
          <a:lstStyle/>
          <a:p>
            <a:r>
              <a:rPr lang="en-US" dirty="0"/>
              <a:t>https://github.com/MuthumenenM/Seasonal-Agriculture-Performance-Analysis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4" name="Picture 23" descr="certificate-1.png"/>
          <p:cNvPicPr>
            <a:picLocks noChangeAspect="1"/>
          </p:cNvPicPr>
          <p:nvPr/>
        </p:nvPicPr>
        <p:blipFill>
          <a:blip r:embed="rId3"/>
          <a:stretch>
            <a:fillRect/>
          </a:stretch>
        </p:blipFill>
        <p:spPr>
          <a:xfrm>
            <a:off x="2564631" y="1500000"/>
            <a:ext cx="7070737" cy="500000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6" name="TextBox 45"/>
          <p:cNvSpPr txBox="1"/>
          <p:nvPr/>
        </p:nvSpPr>
        <p:spPr>
          <a:xfrm>
            <a:off x="3200000" y="2599999"/>
            <a:ext cx="5879832" cy="523220"/>
          </a:xfrm>
          <a:prstGeom prst="rect">
            <a:avLst/>
          </a:prstGeom>
          <a:noFill/>
        </p:spPr>
        <p:txBody>
          <a:bodyPr wrap="square">
            <a:spAutoFit/>
          </a:bodyPr>
          <a:lstStyle/>
          <a:p>
            <a:pPr algn="ctr"/>
            <a:r>
              <a:rPr sz="1600" b="1" dirty="0" err="1">
                <a:solidFill>
                  <a:srgbClr val="333333"/>
                </a:solidFill>
              </a:rPr>
              <a:t>Muthumenen</a:t>
            </a:r>
            <a:r>
              <a:rPr sz="1600" b="1" dirty="0">
                <a:solidFill>
                  <a:srgbClr val="333333"/>
                </a:solidFill>
              </a:rPr>
              <a:t> M</a:t>
            </a:r>
          </a:p>
          <a:p>
            <a:pPr algn="ctr"/>
            <a:r>
              <a:rPr sz="1200" dirty="0">
                <a:solidFill>
                  <a:srgbClr val="555555"/>
                </a:solidFill>
              </a:rPr>
              <a:t>github.com/</a:t>
            </a:r>
            <a:r>
              <a:rPr sz="1200" dirty="0" err="1">
                <a:solidFill>
                  <a:srgbClr val="555555"/>
                </a:solidFill>
              </a:rPr>
              <a:t>MuthumenenM</a:t>
            </a:r>
            <a:r>
              <a:rPr sz="1200" dirty="0">
                <a:solidFill>
                  <a:srgbClr val="555555"/>
                </a:solidFill>
              </a:rPr>
              <a:t>/Seasonal-Agriculture-Performance-Analysis</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1373</TotalTime>
  <Words>642</Words>
  <Application>Microsoft Office PowerPoint</Application>
  <PresentationFormat>Widescreen</PresentationFormat>
  <Paragraphs>48</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Seasonal Agriculture Performance Analysis</vt:lpstr>
      <vt:lpstr>PROBLEM  STATEMENT</vt:lpstr>
      <vt:lpstr>Project Description  This project analyzes 4,000 farm-level agricultural records spanning three cropping seasons (Kharif, Rabi, Zaid), 8 Indian states and 8 crops, to investigate how agricultural performance changes across seasons. Using Python-based data analytics, the dataset was audited, cleaned, and explored to uncover seasonal patterns in yield, production, profitability, water efficiency, and disease/pest risk. Environmental conditions, resource usage, and irrigation methods were analyzed for their relationship with outcomes, using appropriate statistical tests (ANOVA, Kruskal-Wallis, correlation, chi-square; alpha = 0.05). The project delivers a fully executable Jupyter Notebook, a cleaned dataset, and a professional report with evidence-based conclusions and data-driven recommendations for seasonal agricultural planning.</vt:lpstr>
      <vt:lpstr>WHO ARE THE END USERS?</vt:lpstr>
      <vt:lpstr>Technology Used</vt:lpstr>
      <vt:lpstr>RESULTS - Seasonal Performance Overview</vt:lpstr>
      <vt:lpstr>RESULTS - Crop-wise Seasonal Analysis</vt:lpstr>
      <vt:lpstr>RESULTS - Environmental Relationships</vt:lpstr>
      <vt:lpstr>RESULTS - Irrigation &amp; Water Efficiency</vt:lpstr>
      <vt:lpstr>RESULTS - Disease/Pest Risk by Season</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MUTHUMENEN M</cp:lastModifiedBy>
  <cp:revision>103</cp:revision>
  <dcterms:created xsi:type="dcterms:W3CDTF">2021-07-11T13:13:15Z</dcterms:created>
  <dcterms:modified xsi:type="dcterms:W3CDTF">2026-09-06T15:49:40Z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